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AAD"/>
          </a:solidFill>
          <a:ln>
            <a:solidFill>
              <a:srgbClr val="004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8404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4AAD"/>
                </a:solidFill>
                <a:latin typeface="Trebuchet MS"/>
              </a:defRPr>
            </a:pPr>
            <a:r>
              <a:t>FINAL PROJECT DEFENSE • LARAVEL FULLSTACK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NONGKRONG.id</a:t>
            </a:r>
          </a:p>
          <a:p>
            <a:pPr>
              <a:spcBef>
                <a:spcPts val="800"/>
              </a:spcBef>
              <a:defRPr sz="2000" b="1">
                <a:solidFill>
                  <a:srgbClr val="E0EDFF"/>
                </a:solidFill>
                <a:latin typeface="Trebuchet MS"/>
              </a:defRPr>
            </a:pPr>
            <a:r>
              <a:t>Smart Cafe POS &amp; Self-Ordering System Berbasis Generative AI</a:t>
            </a:r>
            <a:br/>
            <a:r>
              <a:t>dan Realtime Kitchen Display</a:t>
            </a:r>
          </a:p>
          <a:p>
            <a:pPr>
              <a:spcBef>
                <a:spcPts val="600"/>
              </a:spcBef>
              <a:defRPr sz="1200">
                <a:solidFill>
                  <a:srgbClr val="BFDBFE"/>
                </a:solidFill>
                <a:latin typeface="Arial"/>
              </a:defRPr>
            </a:pPr>
            <a:r>
              <a:t>Pemberdayaan Kafe Modern melalui Rekomendasi Rasa Mas Nongki (Gemini 1.5 Flash), Dual Table Verification, dan Livewire 3 Reactive Polling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69080"/>
            <a:ext cx="3291840" cy="192024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>
              <a:defRPr sz="1000" b="1">
                <a:solidFill>
                  <a:srgbClr val="93C5FD"/>
                </a:solidFill>
              </a:defRPr>
            </a:pPr>
            <a:r>
              <a:t>👤 PENGEMBANG SISTEM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Allam (puu)</a:t>
            </a:r>
          </a:p>
          <a:p>
            <a:pPr algn="l">
              <a:spcBef>
                <a:spcPts val="400"/>
              </a:spcBef>
              <a:defRPr sz="1000">
                <a:solidFill>
                  <a:srgbClr val="E0EDFF"/>
                </a:solidFill>
              </a:defRPr>
            </a:pPr>
            <a:r>
              <a:t>Lead Fullstack Software Engineer</a:t>
            </a:r>
            <a:br/>
            <a:r>
              <a:t>Spesialisasi: Laravel, Livewire, &amp; GenAI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4069080"/>
            <a:ext cx="3474720" cy="192024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>
              <a:defRPr sz="1000" b="1">
                <a:solidFill>
                  <a:srgbClr val="93C5FD"/>
                </a:solidFill>
              </a:defRPr>
            </a:pPr>
            <a:r>
              <a:t>🛠️ TEKNOLOGI INTI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Laravel 11 • Livewire 3</a:t>
            </a:r>
          </a:p>
          <a:p>
            <a:pPr algn="l">
              <a:spcBef>
                <a:spcPts val="400"/>
              </a:spcBef>
              <a:defRPr sz="1000">
                <a:solidFill>
                  <a:srgbClr val="E0EDFF"/>
                </a:solidFill>
              </a:defRPr>
            </a:pPr>
            <a:r>
              <a:t>Database: MariaDB 10.11+ (3NF)</a:t>
            </a:r>
            <a:br/>
            <a:r>
              <a:t>AI: Google Gemini 1.5 Flash (JSON Output)</a:t>
            </a:r>
            <a:br/>
            <a:r>
              <a:t>UI: Tailwind CSS • Pure Flat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069080"/>
            <a:ext cx="3413455" cy="192024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>
              <a:defRPr sz="1000" b="1">
                <a:solidFill>
                  <a:srgbClr val="93C5FD"/>
                </a:solidFill>
              </a:defRPr>
            </a:pPr>
            <a:r>
              <a:t>☕ LOKASI &amp; TARGET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Smart Cafe Ecosystem</a:t>
            </a:r>
          </a:p>
          <a:p>
            <a:pPr algn="l">
              <a:spcBef>
                <a:spcPts val="400"/>
              </a:spcBef>
              <a:defRPr sz="1000">
                <a:solidFill>
                  <a:srgbClr val="E0EDFF"/>
                </a:solidFill>
              </a:defRPr>
            </a:pPr>
            <a:r>
              <a:t>Pilot Project: Cabang Dipati Ukur</a:t>
            </a:r>
            <a:br/>
            <a:r>
              <a:t>Kapasitas: 6 Meja Sesi Dinamis</a:t>
            </a:r>
            <a:br/>
            <a:r>
              <a:t>Status: Teruji 100% Siap Produksi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LATAR BELAKANG &amp;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Bottleneck &amp; Tantangan Operasional Kafe Konvensional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Analisis kendala alur pemesanan fisik di era tingginya mobilitas dan ekspektasi pelanggan kafe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004AAD"/>
                </a:solidFill>
                <a:latin typeface="Trebuchet MS"/>
              </a:defRPr>
            </a:pPr>
            <a:r>
              <a:t>01 • Antrean Kasir di Jam Sibuk (Peak Hours)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Penumpukan antrean pada pukul 14:00 - 18:00 menyebabkan waktu tunggu rata-rata mencapai 8-15 menit hanya untuk memesan, berujung pada walk-out rate 12%.</a:t>
            </a:r>
          </a:p>
          <a:p>
            <a:pPr>
              <a:spcBef>
                <a:spcPts val="600"/>
              </a:spcBef>
              <a:defRPr sz="1000" b="1">
                <a:solidFill>
                  <a:srgbClr val="DC2626"/>
                </a:solidFill>
                <a:latin typeface="Arial"/>
              </a:defRPr>
            </a:pPr>
            <a:r>
              <a:t>🚨 Waktu Tunggu: 8 - 15 Menit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004AAD"/>
                </a:solidFill>
                <a:latin typeface="Trebuchet MS"/>
              </a:defRPr>
            </a:pPr>
            <a:r>
              <a:t>02 • Decision Paralysis &amp; Menu Statis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Buku menu fisik/PDF statis gagal membantu tamu yang awam profil rasa kopi. Tamu bingung memilih di antara puluhan beans artisan tanpa barista pendamping.</a:t>
            </a:r>
          </a:p>
          <a:p>
            <a:pPr>
              <a:spcBef>
                <a:spcPts val="600"/>
              </a:spcBef>
              <a:defRPr sz="1000" b="1">
                <a:solidFill>
                  <a:srgbClr val="D97706"/>
                </a:solidFill>
                <a:latin typeface="Arial"/>
              </a:defRPr>
            </a:pPr>
            <a:r>
              <a:t>🚨 40%+ Tamu Ragu Memilih Menu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004AAD"/>
                </a:solidFill>
                <a:latin typeface="Trebuchet MS"/>
              </a:defRPr>
            </a:pPr>
            <a:r>
              <a:t>03 • Miskomunikasi Catatan Meja vs Dapur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Nota kertas tulisan tangan rawan hilang, salah dengar catatan khusus (misal: 'less sugar 50% / oatmilk'), serta tertukarnya pesanan antar nomor meja.</a:t>
            </a:r>
          </a:p>
          <a:p>
            <a:pPr>
              <a:spcBef>
                <a:spcPts val="600"/>
              </a:spcBef>
              <a:defRPr sz="1000" b="1">
                <a:solidFill>
                  <a:srgbClr val="DC2626"/>
                </a:solidFill>
                <a:latin typeface="Arial"/>
              </a:defRPr>
            </a:pPr>
            <a:r>
              <a:t>🚨 Human Error Nota Kertas: ~7%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77639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004AAD"/>
                </a:solidFill>
                <a:latin typeface="Trebuchet MS"/>
              </a:defRPr>
            </a:pPr>
            <a:r>
              <a:t>04 • Keterbatasan Monitoring Pemilik (Owner)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Mesin kasir POS lokal tidak dapat dipantau saat pemilik kafe mobilitas di luar outlet. Sulit mendeteksi menu habis dan pergerakan omzet secara instan.</a:t>
            </a:r>
          </a:p>
          <a:p>
            <a:pPr>
              <a:spcBef>
                <a:spcPts val="600"/>
              </a:spcBef>
              <a:defRPr sz="1000" b="1">
                <a:solidFill>
                  <a:srgbClr val="D97706"/>
                </a:solidFill>
                <a:latin typeface="Arial"/>
              </a:defRPr>
            </a:pPr>
            <a:r>
              <a:t>🚨 Ketiadaan Pantauan On-the-Go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NONGKRONG.id • Smart Cafe POS &amp; AI Barista (Final Project)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82512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Presenter: Allam (puu)  |  Slide 2 of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SOLUSI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Solusi Inovatif NONGKRONG.id: Self-Ordering Cerdas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Empat pilar transformasi digital yang mengubah pengalaman kafe dari hulu ke hilir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78608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ctr">
              <a:defRPr sz="2800"/>
            </a:pPr>
            <a:r>
              <a:t>📱</a:t>
            </a:r>
          </a:p>
          <a:p>
            <a:pPr>
              <a:spcBef>
                <a:spcPts val="800"/>
              </a:spcBef>
              <a:defRPr sz="1300" b="1">
                <a:solidFill>
                  <a:srgbClr val="004AAD"/>
                </a:solidFill>
                <a:latin typeface="Trebuchet MS"/>
              </a:defRPr>
            </a:pPr>
            <a:r>
              <a:t>Dual-Verification Check-In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Scan kamera QR instan langsung di meja.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Fallback 5-box kode meja (misal: 7K92A) jika kamera bermasalah.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Zero installation: jalan di browser HP &amp; laptop.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828800"/>
            <a:ext cx="2578608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ctr">
              <a:defRPr sz="2800"/>
            </a:pPr>
            <a:r>
              <a:t>🤖</a:t>
            </a:r>
          </a:p>
          <a:p>
            <a:pPr>
              <a:spcBef>
                <a:spcPts val="800"/>
              </a:spcBef>
              <a:defRPr sz="1300" b="1">
                <a:solidFill>
                  <a:srgbClr val="004AAD"/>
                </a:solidFill>
                <a:latin typeface="Trebuchet MS"/>
              </a:defRPr>
            </a:pPr>
            <a:r>
              <a:t>AI Barista 'Mas Nongki'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Konsultasi selera rasa bertenaga Gemini 1.5 Flash.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Menyerap 15 menu lokal MariaDB secara real-time.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Structured JSON: kartu rekomendasi match 98% &amp; 1-klik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828800"/>
            <a:ext cx="2578608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ctr">
              <a:defRPr sz="2800"/>
            </a:pPr>
            <a:r>
              <a:t>📋</a:t>
            </a:r>
          </a:p>
          <a:p>
            <a:pPr>
              <a:spcBef>
                <a:spcPts val="800"/>
              </a:spcBef>
              <a:defRPr sz="1300" b="1">
                <a:solidFill>
                  <a:srgbClr val="004AAD"/>
                </a:solidFill>
                <a:latin typeface="Trebuchet MS"/>
              </a:defRPr>
            </a:pPr>
            <a:r>
              <a:t>Realtime KDS Kanban Board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Dapur barista menerima tiket otomatis (wire:poll.3s).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Kolom dinamis: Menunggu ➔ Diracik ➔ Siap Saji.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Pelanggan pantau progres meja secara transparan.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828800"/>
            <a:ext cx="2578608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ctr">
              <a:defRPr sz="2800"/>
            </a:pPr>
            <a:r>
              <a:t>📊</a:t>
            </a:r>
          </a:p>
          <a:p>
            <a:pPr>
              <a:spcBef>
                <a:spcPts val="800"/>
              </a:spcBef>
              <a:defRPr sz="1300" b="1">
                <a:solidFill>
                  <a:srgbClr val="004AAD"/>
                </a:solidFill>
                <a:latin typeface="Trebuchet MS"/>
              </a:defRPr>
            </a:pPr>
            <a:r>
              <a:t>Omnichannel Role Ecosystem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Peran 1: Web &amp; Mobile Pelanggan mandiri.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Peran 2: Kasir POS Walk-in &amp; Layar KDS Barista.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Peran 3: Admin Widescreen &amp; Executive Mobile App.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NONGKRONG.id • Smart Cafe POS &amp; AI Barista (Final Project)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82512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Presenter: Allam (puu)  |  Slide 3 of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SPESIFIKASI TEKNOLOGI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Arsitektur Sistem &amp; Modern Tech Stack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Kombinasi teknologi yang efisien, reaktif, dan mudah dimaintain tanpa overhead infrastruktur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/>
          <a:lstStyle/>
          <a:p>
            <a:pPr algn="ctr">
              <a:defRPr sz="900" b="1">
                <a:solidFill>
                  <a:srgbClr val="004AAD"/>
                </a:solidFill>
                <a:latin typeface="Trebuchet MS"/>
              </a:defRPr>
            </a:pPr>
            <a:r>
              <a:t>BACKEND FRAMEWORK  •  Stabilitas &amp; Keamanan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Trebuchet MS"/>
              </a:defRPr>
            </a:pPr>
            <a:r>
              <a:t>Laravel 11 / 12 (PHP 8.5)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✔ Arsitektur MVC &amp; Service-Repository Pattern.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✔ Eloquent ORM untuk relasi 7 tabel yang aman &amp; teroptimasi.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✔ Proteksi keamanan: CSRF protection, Prepared Statements, &amp; RBAC Guard.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/>
          <a:lstStyle/>
          <a:p>
            <a:pPr algn="ctr">
              <a:defRPr sz="900" b="1">
                <a:solidFill>
                  <a:srgbClr val="004AAD"/>
                </a:solidFill>
                <a:latin typeface="Trebuchet MS"/>
              </a:defRPr>
            </a:pPr>
            <a:r>
              <a:t>FRONTEND REACTIVITY  •  Reaktif Tanpa Reload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Trebuchet MS"/>
              </a:defRPr>
            </a:pPr>
            <a:r>
              <a:t>Livewire 3 + Alpine.js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✔ Interaktivitas real-time tanpa perlu API terpisah &amp; SPA bundle.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✔ Polling ringan wire:poll.3s menghemat biaya server.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✔ Tailwind CSS dengan Pure Flat Design (Solid Blue #004AAD, Zero Gradient).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/>
          <a:lstStyle/>
          <a:p>
            <a:pPr algn="ctr">
              <a:defRPr sz="900" b="1">
                <a:solidFill>
                  <a:srgbClr val="004AAD"/>
                </a:solidFill>
                <a:latin typeface="Trebuchet MS"/>
              </a:defRPr>
            </a:pPr>
            <a:r>
              <a:t>RELATIONAL DATABASE  •  Integritas 3NF Murni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Trebuchet MS"/>
              </a:defRPr>
            </a:pPr>
            <a:r>
              <a:t>MariaDB 10.11+ (InnoDB Engine)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✔ Normalisasi 3NF dengan integritas referensial CASCADE.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✔ Indeks unik pada access_code meja untuk lookup instan &lt; 5ms.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✔ Penyimpanan terpusat: Users, Tables, Categories, Menus, Orders, AI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77639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/>
          <a:lstStyle/>
          <a:p>
            <a:pPr algn="ctr">
              <a:defRPr sz="900" b="1">
                <a:solidFill>
                  <a:srgbClr val="004AAD"/>
                </a:solidFill>
                <a:latin typeface="Trebuchet MS"/>
              </a:defRPr>
            </a:pPr>
            <a:r>
              <a:t>GENERATIVE AI ENGINE  •  Rekomendasi Cerdas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  <a:latin typeface="Trebuchet MS"/>
              </a:defRPr>
            </a:pPr>
            <a:r>
              <a:t>Google Gemini 1.5 Flash API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✔ Structured JSON Output untuk parsing kartu hidangan instan.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✔ Latensi ultra-cepat (~1.1 detik) dengan context injection 15 menu lokal.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✔ Temperature tuned di 0.7 untuk persona ramah 'Mas Nongki'.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NONGKRONG.id • Smart Cafe POS &amp; AI Barista (Final Project)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82512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Presenter: Allam (puu)  |  Slide 4 of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MANAJEMEN AKSES (RBAC)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Tiga Peran Pengguna (Three-Tier Architecture)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Pemisahan tanggung jawab operasional untuk kenyamanan pelanggan dan kontrol penuh manajemen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56432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01168"/>
          <a:lstStyle/>
          <a:p>
            <a:pPr algn="ctr">
              <a:defRPr sz="1100" b="1">
                <a:solidFill>
                  <a:srgbClr val="004AAD"/>
                </a:solidFill>
                <a:latin typeface="Trebuchet MS"/>
              </a:defRPr>
            </a:pPr>
            <a:r>
              <a:t>ROLE 1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Pelanggan (Customer)</a:t>
            </a:r>
          </a:p>
          <a:p>
            <a:pPr>
              <a:spcBef>
                <a:spcPts val="400"/>
              </a:spcBef>
              <a:defRPr sz="950" b="1">
                <a:solidFill>
                  <a:srgbClr val="64748B"/>
                </a:solidFill>
                <a:latin typeface="Arial"/>
              </a:defRPr>
            </a:pPr>
            <a:r>
              <a:t>📱 Smartphone Web PWA &amp; 💻 Desktop Widescreen</a:t>
            </a:r>
          </a:p>
          <a:p>
            <a:pPr>
              <a:spcBef>
                <a:spcPts val="800"/>
              </a:spcBef>
              <a:defRPr sz="1000" b="1">
                <a:solidFill>
                  <a:srgbClr val="334155"/>
                </a:solidFill>
                <a:latin typeface="Trebuchet MS"/>
              </a:defRPr>
            </a:pPr>
            <a:r>
              <a:t>Fitur &amp; Hak Akses Fungsional: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Verifikasi meja (QR Scan / 5-box code).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Eksplorasi katalog &amp; filter preferensi rasa.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Konsultasi interaktif AI Barista Mas Nongki.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Review keranjang &amp; pembayaran QRIS dinamis.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Live tracking status pesanan di meja.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828800"/>
            <a:ext cx="3456432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01168"/>
          <a:lstStyle/>
          <a:p>
            <a:pPr algn="ctr">
              <a:defRPr sz="1100" b="1">
                <a:solidFill>
                  <a:srgbClr val="D97706"/>
                </a:solidFill>
                <a:latin typeface="Trebuchet MS"/>
              </a:defRPr>
            </a:pPr>
            <a:r>
              <a:t>ROLE 2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Staff Kasir &amp; Barista</a:t>
            </a:r>
          </a:p>
          <a:p>
            <a:pPr>
              <a:spcBef>
                <a:spcPts val="400"/>
              </a:spcBef>
              <a:defRPr sz="950" b="1">
                <a:solidFill>
                  <a:srgbClr val="64748B"/>
                </a:solidFill>
                <a:latin typeface="Arial"/>
              </a:defRPr>
            </a:pPr>
            <a:r>
              <a:t>🖥️ Layar Sentuh POS &amp; 📺 Tablet KDS Dapur</a:t>
            </a:r>
          </a:p>
          <a:p>
            <a:pPr>
              <a:spcBef>
                <a:spcPts val="800"/>
              </a:spcBef>
              <a:defRPr sz="1000" b="1">
                <a:solidFill>
                  <a:srgbClr val="334155"/>
                </a:solidFill>
                <a:latin typeface="Trebuchet MS"/>
              </a:defRPr>
            </a:pPr>
            <a:r>
              <a:t>Fitur &amp; Hak Akses Fungsional: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Pemesanan langsung tamu offline (Walk-in).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Kalkulator bayar tunai &amp; cetak struk kasir.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Monitoring antrean masuk di dapur (KDS Kanban).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Pindah status: Diracik ➔ Siap Saji ➔ Selesai.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Notifikasi waiter untuk pengantaran ke meja.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828800"/>
            <a:ext cx="3456432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01168"/>
          <a:lstStyle/>
          <a:p>
            <a:pPr algn="ctr">
              <a:defRPr sz="1100" b="1">
                <a:solidFill>
                  <a:srgbClr val="16A34A"/>
                </a:solidFill>
                <a:latin typeface="Trebuchet MS"/>
              </a:defRPr>
            </a:pPr>
            <a:r>
              <a:t>ROLE 3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Admin &amp; Cafe Owner</a:t>
            </a:r>
          </a:p>
          <a:p>
            <a:pPr>
              <a:spcBef>
                <a:spcPts val="400"/>
              </a:spcBef>
              <a:defRPr sz="950" b="1">
                <a:solidFill>
                  <a:srgbClr val="64748B"/>
                </a:solidFill>
                <a:latin typeface="Arial"/>
              </a:defRPr>
            </a:pPr>
            <a:r>
              <a:t>💻 Desktop Backoffice &amp; 📱 Mobile Executive App</a:t>
            </a:r>
          </a:p>
          <a:p>
            <a:pPr>
              <a:spcBef>
                <a:spcPts val="800"/>
              </a:spcBef>
              <a:defRPr sz="1000" b="1">
                <a:solidFill>
                  <a:srgbClr val="334155"/>
                </a:solidFill>
                <a:latin typeface="Trebuchet MS"/>
              </a:defRPr>
            </a:pPr>
            <a:r>
              <a:t>Fitur &amp; Hak Akses Fungsional: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Executive dashboard: omzet &amp; jam ramai.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CRUD 15 menu, harga, &amp; kontrol stok.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AI sandbox: tuning prompt persona &amp; temperature.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Floor monitor: cek kode meja 5 karakter.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Audit log transaksi &amp; riwayat konsultasi 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NONGKRONG.id • Smart Cafe POS &amp; AI Barista (Final Project)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82512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Presenter: Allam (puu)  |  Slide 5 of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DIAGRAM ALUR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Alur Proses Bisnis End-to-End (ANSI/ISO 5807)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Orkestrasi terpadu dari kedatangan pelanggan hingga hidangan disajikan di meja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56432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950" b="1">
                <a:solidFill>
                  <a:srgbClr val="004AAD"/>
                </a:solidFill>
                <a:latin typeface="Trebuchet MS"/>
              </a:defRPr>
            </a:pPr>
            <a:r>
              <a:t>TAHAP 1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1. Check-In Meja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Tamu scan QR atau ketik 5 kode meja (7K92A) ➔ Sesi meja terkunci di sistem.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828800"/>
            <a:ext cx="3456432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950" b="1">
                <a:solidFill>
                  <a:srgbClr val="004AAD"/>
                </a:solidFill>
                <a:latin typeface="Trebuchet MS"/>
              </a:defRPr>
            </a:pPr>
            <a:r>
              <a:t>TAHAP 2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2. Pilih / AI Barista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Eksplorasi katalog mandiri ATAU konsultasi preferensi rasa Mas Nongki.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828800"/>
            <a:ext cx="3456432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950" b="1">
                <a:solidFill>
                  <a:srgbClr val="004AAD"/>
                </a:solidFill>
                <a:latin typeface="Trebuchet MS"/>
              </a:defRPr>
            </a:pPr>
            <a:r>
              <a:t>TAHAP 3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3. Checkout &amp; QRIS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Review item, catatan barista, kalkulasi pajak PB1 10%, &amp; bayar via QRIS.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3456432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950" b="1">
                <a:solidFill>
                  <a:srgbClr val="D97706"/>
                </a:solidFill>
                <a:latin typeface="Trebuchet MS"/>
              </a:defRPr>
            </a:pPr>
            <a:r>
              <a:t>TAHAP 4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4. Dapur (KDS Kanban)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Tiket order otomatis masuk ke layar barista via Livewire polling 3 detik.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3977639"/>
            <a:ext cx="3456432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950" b="1">
                <a:solidFill>
                  <a:srgbClr val="D97706"/>
                </a:solidFill>
                <a:latin typeface="Trebuchet MS"/>
              </a:defRPr>
            </a:pPr>
            <a:r>
              <a:t>TAHAP 5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5. Barista Meracik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Status pesanan berganti ke 'Sedang Diracik' ➔ Diperbarui ke HP tamu.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3977639"/>
            <a:ext cx="3456432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950" b="1">
                <a:solidFill>
                  <a:srgbClr val="16A34A"/>
                </a:solidFill>
                <a:latin typeface="Trebuchet MS"/>
              </a:defRPr>
            </a:pPr>
            <a:r>
              <a:t>TAHAP 6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6. Sajian Tiba di Meja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Barista klik 'Siap Saji' ➔ Waiter antar ke meja ➔ Selesai &amp; Meja bersih.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NONGKRONG.id • Smart Cafe POS &amp; AI Barista (Final Project)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82512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Presenter: Allam (puu)  |  Slide 6 of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PERANCANGAN BASIS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Struktur Basis Data Relasional 3NF &amp; Kamus Data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Menjamin konsistensi transaksi, performa tinggi, dan referensial antar entitas tanpa redundansi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75488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100" b="1">
                <a:solidFill>
                  <a:srgbClr val="004AAD"/>
                </a:solidFill>
                <a:latin typeface="Trebuchet MS"/>
              </a:defRPr>
            </a:pPr>
            <a:r>
              <a:t>7 TABEL DOMAIN UTAMA (3NF TERUJI)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users: Kelola kredensial staff &amp; owner (admin, staff, customer).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tables: Nomor meja, kapasitas, status, &amp; access_code unik 5 digit.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categories: Kategori hidangan (Espresso, Signature, Non-Coffee, Pastry).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menus: Daftar 15 menu, harga, stok aktif, &amp; taste_profile untuk AI.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orders: Tiket transaksi meja, status (pending-completed), &amp; total bayar.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order_items: Detail item per order, kuantitas, harga, &amp; custom notes.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ai_consultations: Log audit prompt tamu, respon Mas Nongki, &amp; token usage.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828800"/>
            <a:ext cx="5790895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rd_smart_c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56" y="1865376"/>
            <a:ext cx="5717743" cy="41788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6309360"/>
            <a:ext cx="1072865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NONGKRONG.id • Smart Cafe POS &amp; AI Barista (Final Project)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82512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Presenter: Allam (puu)  |  Slide 7 of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FITUR UNGGULAN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Dual-Verification Table Check-In (QR &amp; 5-Box Code)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Solusi inklusif mengatasi kendala teknis kamera HP atau perangkat laptop pelanggan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38912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004AAD"/>
                </a:solidFill>
                <a:latin typeface="Trebuchet MS"/>
              </a:defRPr>
            </a:pPr>
            <a:r>
              <a:t>MEKANISME CHECK-IN TANPA HAMBATAN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Metode 1: QR Code Scanner Kamera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Pelanggan cukup arahkan kamera smartphone/webcam ke stiker akrilik meja untuk langsung membuka menu.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Metode 2: 5-Box Manual Access Code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Jika izin kamera diblokir atau pencahayaan redup, tamu cukup mengetik 5 karakter unik (misal: 7K92A, 3X81B, 8Y24C) yang tertera di meja.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Kunci Sesi Meja Otomatis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Sistem langsung mengikat session_id dengan nomor meja di MariaDB, mencegah kesalahan kirim hidangan ke meja lain.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Zero-Install Experience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Tidak membutuhkan unduh aplikasi PlayStore/AppStore yang merepotkan pelanggan baru.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828800"/>
            <a:ext cx="411480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web_table_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1865376"/>
            <a:ext cx="4041648" cy="41788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555480" y="1828800"/>
            <a:ext cx="1904695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table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055" y="1865376"/>
            <a:ext cx="1831543" cy="41788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" y="6309360"/>
            <a:ext cx="1072865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NONGKRONG.id • Smart Cafe POS &amp; AI Barista (Final Project)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6382512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Presenter: Allam (puu)  |  Slide 8 of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FITUR UNGGULAN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AI Barista 'Mas Nongki': Rekomendasi Personal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Integrasi Gemini 1.5 Flash dengan katalog dinamis 15 menu lokal untuk mengatasi kebingungan rasa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38912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100" b="1">
                <a:solidFill>
                  <a:srgbClr val="004AAD"/>
                </a:solidFill>
                <a:latin typeface="Trebuchet MS"/>
              </a:defRPr>
            </a:pPr>
            <a:r>
              <a:t>ORKESTRASI PROMPT &amp; STRUCTURED OUTPUT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1. Dynamic Menu Context Injection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Saat pelanggan chat, sistem menyuntikkan seluruh 15 menu aktif dari MariaDB beserta atribut rasa (misal: Sweet &amp; Creamy, Bitter &amp; Bold).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2. Persona Lokal yang Ramah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Mas Nongki diprogram menyapa pelanggan sesuai nomor mejanya dan menjelaskan profil beans dengan bahasa santai khas barista kafe.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3. Structured JSON Response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Gemini merespon dengan skema JSON terstruktur: teks sapaan ramah, array menu rekomendasi, dan persentase kecocokan (misal: 98% Match).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4. 1-Klik Tambah ke Keranjang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Hasil rekomendasi langsung dirender menjadi kartu interaktif dengan tombol '+' cepat ke keranjang meja.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828800"/>
            <a:ext cx="6156655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web_ai_bar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1865376"/>
            <a:ext cx="6083503" cy="41788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6309360"/>
            <a:ext cx="1072865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NONGKRONG.id • Smart Cafe POS &amp; AI Barista (Final Project)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82512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Presenter: Allam (puu)  |  Slide 9 of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FITUR UNGGULAN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Kitchen Display System (KDS) &amp; Realtime Tracking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Transparansi alur pesanan dari dapur barista hingga ke meja pelanggan tanpa kertas nota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2120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pos_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865376"/>
            <a:ext cx="5138928" cy="30358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074920"/>
            <a:ext cx="52120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000" b="1">
                <a:solidFill>
                  <a:srgbClr val="D97706"/>
                </a:solidFill>
                <a:latin typeface="Trebuchet MS"/>
              </a:defRPr>
            </a:pPr>
            <a:r>
              <a:t>📺 LAYAR KDS DAPUR BARISTA (ROLE 2)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Arial"/>
              </a:defRPr>
            </a:pPr>
            <a:r>
              <a:t>Auto-update polling wire:poll.3s mengelompokkan tiket: Menunggu (Kuning) ➔ Diracik (Biru) ➔ Siap Saji (Hijau).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828800"/>
            <a:ext cx="5333695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web_order_tr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865376"/>
            <a:ext cx="5260543" cy="303580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26480" y="5074920"/>
            <a:ext cx="533369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📱 LIVE STATUS MEJA PELANGGAN (ROLE 1)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Arial"/>
              </a:defRPr>
            </a:pPr>
            <a:r>
              <a:t>Stepper 4-tahap dengan estimasi waktu saji (~5-8 Menit), breakdown bill tiket, dan tombol panggil waiter.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NONGKRONG.id • Smart Cafe POS &amp; AI Barista (Final Project)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82512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Presenter: Allam (puu)  |  Slide 10 of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SHOWCASE ANTARMUKA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Antarmuka Pelanggan: Desktop Web &amp; Mobile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Tampilan katalog menu, sticky cart, dan filter kategori dengan estetika Pure Flat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804672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web_customer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865376"/>
            <a:ext cx="7973568" cy="41788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961120" y="1828800"/>
            <a:ext cx="2499055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customer_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696" y="1865376"/>
            <a:ext cx="2425903" cy="4178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6309360"/>
            <a:ext cx="1072865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NONGKRONG.id • Smart Cafe POS &amp; AI Barista (Final Project)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82512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Presenter: Allam (puu)  |  Slide 11 of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SHOWCASE ANTARMUKA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Staff Kasir POS Fisik: Khusus Tamu Walk-In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Mendukung alur operasional tamu yang tidak membawa smartphone atau memilih bayar tunai di kasir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13232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_pos_wal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865376"/>
            <a:ext cx="7059168" cy="41788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828800"/>
            <a:ext cx="3413455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D97706"/>
                </a:solidFill>
                <a:latin typeface="Trebuchet MS"/>
              </a:defRPr>
            </a:pPr>
            <a:r>
              <a:t>FITUR KASIR FISIK OFFLINE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Grid Menu Touchscreen Cepat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Ikon dan foto menu besar dioptimalkan untuk input layar sentuh kasir.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Kalkulator Kembalian Tunai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Preset tombol uang pas (Rp 50.000, Rp 100.000) dan kalkulasi kembalian otomatis.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Dukungan Dine-in &amp; Takeaway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Kasir dapat memilih nomor meja tujuan atau pesanan bungkus bawa pulang.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Sinkronisasi Instan ke Dapur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Pesanan langsung terinjeksi ke antrean KDS Barista tanpa cetak kertas tambahan.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NONGKRONG.id • Smart Cafe POS &amp; AI Barista (Final Project)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82512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Presenter: Allam (puu)  |  Slide 12 of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SHOWCASE ANTARMUKA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Admin Management: Desktop Analytics &amp; Mobile App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Dua sudut pandang bagi pemilik usaha: analitik mendalam di desktop dan monitoring saat mobilitas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621792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_admin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865376"/>
            <a:ext cx="6144768" cy="41788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1828800"/>
            <a:ext cx="210312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admin_mobil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1865376"/>
            <a:ext cx="2029967" cy="4178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418320" y="1828800"/>
            <a:ext cx="2041855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admin_mobile_table_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1865376"/>
            <a:ext cx="1968703" cy="417880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1520" y="6309360"/>
            <a:ext cx="1072865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NONGKRONG.id • Smart Cafe POS &amp; AI Barista (Final Project)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82512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Presenter: Allam (puu)  |  Slide 13 of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PENGUJIAN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Hasil Pengujian Black-Box &amp; Metrik Performa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Validasi fungsional menyeluruh dan benchmark performa sistem pada skenario nyata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2800" b="1">
                <a:solidFill>
                  <a:srgbClr val="16A34A"/>
                </a:solidFill>
                <a:latin typeface="Trebuchet MS"/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Tingkat Keberhasilan Black-Box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18 test cases mencakup alur check-in QR/kode, AI recommendation, QRIS checkout, KDS kitchen, dan admin controls seluruhnya berstatus PASSED.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2800" b="1">
                <a:solidFill>
                  <a:srgbClr val="004AAD"/>
                </a:solidFill>
                <a:latin typeface="Trebuchet MS"/>
              </a:defRPr>
            </a:pPr>
            <a:r>
              <a:t>~1.1s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Latensi Respon Gemini 1.5 Flash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Waktu inferensi streaming sangat cepat untuk menganalisis selera dan mengembalikan format kartu JSON yang valid.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2800" b="1">
                <a:solidFill>
                  <a:srgbClr val="004AAD"/>
                </a:solidFill>
                <a:latin typeface="Trebuchet MS"/>
              </a:defRPr>
            </a:pPr>
            <a:r>
              <a:t>&lt; 15ms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Query Latency MariaDB (3NF)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Pemanfaatan foreign key indexing dan access_code unique index menghasilkan retrieval tabel di bawah 15 milidetik.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77639"/>
            <a:ext cx="52578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2800" b="1">
                <a:solidFill>
                  <a:srgbClr val="16A34A"/>
                </a:solidFill>
                <a:latin typeface="Trebuchet MS"/>
              </a:defRPr>
            </a:pPr>
            <a:r>
              <a:t>&lt; 2.5 KB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Payload Livewire Polling Delta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Siklus wire:poll.3s hanya mentransfer payload DOM yang berubah, sangat hemat bandwidth jaringan WiFi kafe.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NONGKRONG.id • Smart Cafe POS &amp; AI Barista (Final Project)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82512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Presenter: Allam (puu)  |  Slide 14 of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NILAI TAMBAH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Kuantifikasi Dampak Bisnis &amp; Efisiensi Operasional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Dampak nyata bagi pemilik usaha, efisiensi staf barista, dan kepuasan pelanggan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56432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3600" b="1">
                <a:solidFill>
                  <a:srgbClr val="16A34A"/>
                </a:solidFill>
                <a:latin typeface="Trebuchet MS"/>
              </a:defRPr>
            </a:pPr>
            <a:r>
              <a:t>-75%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Trebuchet MS"/>
              </a:defRPr>
            </a:pPr>
            <a:r>
              <a:t>Waktu Antre &amp; Pemesanan</a:t>
            </a:r>
          </a:p>
          <a:p>
            <a:pPr>
              <a:spcBef>
                <a:spcPts val="1000"/>
              </a:spcBef>
              <a:defRPr sz="1000" b="1">
                <a:solidFill>
                  <a:srgbClr val="64748B"/>
                </a:solidFill>
                <a:latin typeface="Arial"/>
              </a:defRPr>
            </a:pPr>
            <a:r>
              <a:t>Bukti Kuantitatif: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✔ Pemotongan waktu tunggu dari rata-rata 8 menit menjadi 2 menit.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✔ Pelanggan langsung duduk di meja tanpa harus berdiri mengantre di kasir.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✔ Meniadakan walk-out rate saat jam sibuk (peak hours).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828800"/>
            <a:ext cx="3456432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3600" b="1">
                <a:solidFill>
                  <a:srgbClr val="004AAD"/>
                </a:solidFill>
                <a:latin typeface="Trebuchet MS"/>
              </a:defRPr>
            </a:pPr>
            <a:r>
              <a:t>+18.4%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Trebuchet MS"/>
              </a:defRPr>
            </a:pPr>
            <a:r>
              <a:t>Kenaikan Nilai Belanja (AOV)</a:t>
            </a:r>
          </a:p>
          <a:p>
            <a:pPr>
              <a:spcBef>
                <a:spcPts val="1000"/>
              </a:spcBef>
              <a:defRPr sz="1000" b="1">
                <a:solidFill>
                  <a:srgbClr val="64748B"/>
                </a:solidFill>
                <a:latin typeface="Arial"/>
              </a:defRPr>
            </a:pPr>
            <a:r>
              <a:t>Bukti Kuantitatif: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✔ AI Barista merekomendasikan pairing pastry &amp; signature beans yang relevan.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✔ Peluang up-selling alami tanpa paksaan dari kasir.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✔ Tingkat konversi kartu rekomendasi AI mencapai 72%.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828800"/>
            <a:ext cx="3456432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3600" b="1">
                <a:solidFill>
                  <a:srgbClr val="16A34A"/>
                </a:solidFill>
                <a:latin typeface="Trebuchet MS"/>
              </a:defRPr>
            </a:pPr>
            <a:r>
              <a:t>0%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Trebuchet MS"/>
              </a:defRPr>
            </a:pPr>
            <a:r>
              <a:t>Nota Hilang / Human Error</a:t>
            </a:r>
          </a:p>
          <a:p>
            <a:pPr>
              <a:spcBef>
                <a:spcPts val="1000"/>
              </a:spcBef>
              <a:defRPr sz="1000" b="1">
                <a:solidFill>
                  <a:srgbClr val="64748B"/>
                </a:solidFill>
                <a:latin typeface="Arial"/>
              </a:defRPr>
            </a:pPr>
            <a:r>
              <a:t>Bukti Kuantitatif: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✔ Semua pesanan tercatat langsung di MariaDB dan dikirim ke layar dapur.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✔ Catatan custom ('less sugar 50%') tercetak jelas di tiket KDS.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✔ Menghilangkan biaya kertas struk thermal konvensional.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NONGKRONG.id • Smart Cafe POS &amp; AI Barista (Final Project)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82512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Presenter: Allam (puu)  |  Slide 15 of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4AAD"/>
                </a:solidFill>
                <a:latin typeface="Trebuchet MS"/>
              </a:defRPr>
            </a:pPr>
            <a:r>
              <a:t>KESIMPULAN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Kesimpulan Proyek &amp; Rencana Pengembangan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Fondasi kokoh sistem POS modern dengan peta jalan ekspansi fitur masa depan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5780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004AAD"/>
                </a:solidFill>
                <a:latin typeface="Trebuchet MS"/>
              </a:defRPr>
            </a:pPr>
            <a:r>
              <a:t>🎯 KESIMPULAN UTAMA PROYEK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1. Arsitektur Reaktif &amp; Hemat Biaya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Kombinasi Laravel 11 dan Livewire 3 membuktikan bahwa pengalaman real-time ala SPA dapat diwujudkan tanpa infrastruktur WebSocket berbayar yang rumit.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2. Pemanfaatan Nyata Generative AI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AI Barista Mas Nongki bukan sekadar chatbot biasa, melainkan recommendation engine berbasis structured JSON yang terhubung langsung ke inventaris 15 menu lokal.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3. Solusi Inklusif &amp; Komprehensif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Mendukung alur dual-verification meja, kasir POS walk-in, dapur KDS Kanban, serta dashboard mobile admin.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4. Kesiapan Produksi 100%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Sistem telah diuji fungsional 100% lulus, basis data ternormalisasi 3NF, dan dokumentasi modul akademik lengkap.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287975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16A34A"/>
                </a:solidFill>
                <a:latin typeface="Trebuchet MS"/>
              </a:defRPr>
            </a:pPr>
            <a:r>
              <a:t>🚀 RENCANA PENGEMBANGAN (ROADMAP)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Fase 1: Payment Gateway Webhook (Bulan 1)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Integrasi Midtrans / Xendit Snap API untuk settlement QRIS otomatis tanpa konfirmasi kasir manual.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Fase 2: Inventory Recipe Deduction (Bulan 2)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Pengurangan stok bahan mentah otomatis per gram kopi bubuk, susu literan, dan sirup per cangkir hidangan.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Fase 3: Multi-Outlet Cloud Sync &amp; PWA Push (Bulan 3)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Dukungan multi-cabang (franchise) terpusat dan notifikasi Web Push ke smartphone pelanggan saat pesanan siap saji.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Fase 4: Loyalty Program &amp; Personalized Coupons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AI Barista mengingat riwayat pesanan pelanggan langganan untuk diskon personal.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27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NONGKRONG.id • Smart Cafe POS &amp; AI Barista (Final Project)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382512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Presenter: Allam (puu)  |  Slide 16 of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AAD"/>
          </a:solidFill>
          <a:ln>
            <a:solidFill>
              <a:srgbClr val="004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9260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4AAD"/>
                </a:solidFill>
                <a:latin typeface="Trebuchet MS"/>
              </a:defRPr>
            </a:pPr>
            <a:r>
              <a:t>SESI DISKUSI &amp; TANYA JAWAB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Trebuchet MS"/>
              </a:defRPr>
            </a:pPr>
            <a:r>
              <a:t>Terima Kasih!</a:t>
            </a:r>
          </a:p>
          <a:p>
            <a:pPr>
              <a:spcBef>
                <a:spcPts val="800"/>
              </a:spcBef>
              <a:defRPr sz="2000">
                <a:solidFill>
                  <a:srgbClr val="E0EDFF"/>
                </a:solidFill>
                <a:latin typeface="Trebuchet MS"/>
              </a:defRPr>
            </a:pPr>
            <a:r>
              <a:t>Open for Questions, Feedback, and Discussion.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10728655" cy="18288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182880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☕ NONGKRONG.id — Fall in Love with Coffee in NONGKRONG.id</a:t>
            </a:r>
          </a:p>
          <a:p>
            <a:pPr>
              <a:spcBef>
                <a:spcPts val="600"/>
              </a:spcBef>
              <a:defRPr sz="1100">
                <a:solidFill>
                  <a:srgbClr val="DBEAFE"/>
                </a:solidFill>
                <a:latin typeface="Arial"/>
              </a:defRPr>
            </a:pPr>
            <a:r>
              <a:t>Presenter: Allam (puu)  •  Lead Fullstack Software Engineer</a:t>
            </a:r>
            <a:br/>
            <a:r>
              <a:t>Final Project: Laravel 11, Livewire 3, MariaDB 3NF, &amp; Google Gemini 1.5 Flash</a:t>
            </a:r>
            <a:br/>
            <a:r>
              <a:t>Repositori: Desktop/nongkrong_id  •  Dokumentasi Lengkap: DOKUMENTASI_LENGKAP_SMART_CAFE.docx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